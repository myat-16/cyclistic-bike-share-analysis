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mbolo\Stastic_project\Data\DashBoard_Project_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mbolo\Stastic_project\Data\DashBoard_Project_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mbolo\Stastic_project\Data\DashBoard_Project_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mbolo\Stastic_project\Data\DashBoard_Project_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imbolo\Stastic_project\Data\DashBoard_Project_2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[DashBoard_Project_2.xlsx]Daily_PV!PivotTable4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</a:t>
            </a:r>
            <a:r>
              <a:rPr lang="en-US" baseline="0"/>
              <a:t> Summary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Daily_PV!$I$2</c:f>
              <c:strCache>
                <c:ptCount val="1"/>
                <c:pt idx="0">
                  <c:v>RideCount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Daily_PV!$H$3:$H$5</c:f>
              <c:strCache>
                <c:ptCount val="3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</c:strCache>
            </c:strRef>
          </c:cat>
          <c:val>
            <c:numRef>
              <c:f>Daily_PV!$I$3:$I$5</c:f>
              <c:numCache>
                <c:formatCode>General</c:formatCode>
                <c:ptCount val="3"/>
                <c:pt idx="0">
                  <c:v>298207</c:v>
                </c:pt>
                <c:pt idx="1">
                  <c:v>450994</c:v>
                </c:pt>
                <c:pt idx="2">
                  <c:v>608778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F1-47C2-AB7C-1437D51D7107}"/>
            </c:ext>
          </c:extLst>
        </c:ser>
        <c:ser>
          <c:idx val="1"/>
          <c:order val="1"/>
          <c:tx>
            <c:strRef>
              <c:f>Daily_PV!$J$2</c:f>
              <c:strCache>
                <c:ptCount val="1"/>
                <c:pt idx="0">
                  <c:v>CasualCount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Daily_PV!$H$3:$H$5</c:f>
              <c:strCache>
                <c:ptCount val="3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</c:strCache>
            </c:strRef>
          </c:cat>
          <c:val>
            <c:numRef>
              <c:f>Daily_PV!$J$3:$J$5</c:f>
              <c:numCache>
                <c:formatCode>General</c:formatCode>
                <c:ptCount val="3"/>
                <c:pt idx="0">
                  <c:v>120420</c:v>
                </c:pt>
                <c:pt idx="1">
                  <c:v>216829</c:v>
                </c:pt>
                <c:pt idx="2">
                  <c:v>304192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F1-47C2-AB7C-1437D51D7107}"/>
            </c:ext>
          </c:extLst>
        </c:ser>
        <c:ser>
          <c:idx val="2"/>
          <c:order val="2"/>
          <c:tx>
            <c:strRef>
              <c:f>Daily_PV!$K$2</c:f>
              <c:strCache>
                <c:ptCount val="1"/>
                <c:pt idx="0">
                  <c:v>MemberCount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Daily_PV!$H$3:$H$5</c:f>
              <c:strCache>
                <c:ptCount val="3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</c:strCache>
            </c:strRef>
          </c:cat>
          <c:val>
            <c:numRef>
              <c:f>Daily_PV!$K$3:$K$5</c:f>
              <c:numCache>
                <c:formatCode>General</c:formatCode>
                <c:ptCount val="3"/>
                <c:pt idx="0">
                  <c:v>177787</c:v>
                </c:pt>
                <c:pt idx="1">
                  <c:v>234165</c:v>
                </c:pt>
                <c:pt idx="2">
                  <c:v>304586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F1-47C2-AB7C-1437D51D71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01391632"/>
        <c:axId val="501392112"/>
      </c:barChart>
      <c:catAx>
        <c:axId val="501391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1392112"/>
        <c:crosses val="autoZero"/>
        <c:auto val="1"/>
        <c:lblAlgn val="ctr"/>
        <c:lblOffset val="100"/>
        <c:noMultiLvlLbl val="0"/>
      </c:catAx>
      <c:valAx>
        <c:axId val="501392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,&quot;k&quot;\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1391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[DashBoard_Project_2.xlsx]Daily_PV!PivotTable1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Daily</a:t>
            </a:r>
            <a:r>
              <a:rPr lang="en-US" baseline="0"/>
              <a:t> Summary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Daily_PV!$B$3</c:f>
              <c:strCache>
                <c:ptCount val="1"/>
                <c:pt idx="0">
                  <c:v>Total Ride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Daily_PV!$A$4:$A$94</c:f>
              <c:strCache>
                <c:ptCount val="91"/>
                <c:pt idx="0">
                  <c:v>01-Apr</c:v>
                </c:pt>
                <c:pt idx="1">
                  <c:v>02-Apr</c:v>
                </c:pt>
                <c:pt idx="2">
                  <c:v>03-Apr</c:v>
                </c:pt>
                <c:pt idx="3">
                  <c:v>04-Apr</c:v>
                </c:pt>
                <c:pt idx="4">
                  <c:v>05-Apr</c:v>
                </c:pt>
                <c:pt idx="5">
                  <c:v>06-Apr</c:v>
                </c:pt>
                <c:pt idx="6">
                  <c:v>07-Apr</c:v>
                </c:pt>
                <c:pt idx="7">
                  <c:v>08-Apr</c:v>
                </c:pt>
                <c:pt idx="8">
                  <c:v>09-Apr</c:v>
                </c:pt>
                <c:pt idx="9">
                  <c:v>10-Apr</c:v>
                </c:pt>
                <c:pt idx="10">
                  <c:v>11-Apr</c:v>
                </c:pt>
                <c:pt idx="11">
                  <c:v>12-Apr</c:v>
                </c:pt>
                <c:pt idx="12">
                  <c:v>13-Apr</c:v>
                </c:pt>
                <c:pt idx="13">
                  <c:v>14-Apr</c:v>
                </c:pt>
                <c:pt idx="14">
                  <c:v>15-Apr</c:v>
                </c:pt>
                <c:pt idx="15">
                  <c:v>16-Apr</c:v>
                </c:pt>
                <c:pt idx="16">
                  <c:v>17-Apr</c:v>
                </c:pt>
                <c:pt idx="17">
                  <c:v>18-Apr</c:v>
                </c:pt>
                <c:pt idx="18">
                  <c:v>19-Apr</c:v>
                </c:pt>
                <c:pt idx="19">
                  <c:v>20-Apr</c:v>
                </c:pt>
                <c:pt idx="20">
                  <c:v>21-Apr</c:v>
                </c:pt>
                <c:pt idx="21">
                  <c:v>22-Apr</c:v>
                </c:pt>
                <c:pt idx="22">
                  <c:v>23-Apr</c:v>
                </c:pt>
                <c:pt idx="23">
                  <c:v>24-Apr</c:v>
                </c:pt>
                <c:pt idx="24">
                  <c:v>25-Apr</c:v>
                </c:pt>
                <c:pt idx="25">
                  <c:v>26-Apr</c:v>
                </c:pt>
                <c:pt idx="26">
                  <c:v>27-Apr</c:v>
                </c:pt>
                <c:pt idx="27">
                  <c:v>28-Apr</c:v>
                </c:pt>
                <c:pt idx="28">
                  <c:v>29-Apr</c:v>
                </c:pt>
                <c:pt idx="29">
                  <c:v>30-Apr</c:v>
                </c:pt>
                <c:pt idx="30">
                  <c:v>01-May</c:v>
                </c:pt>
                <c:pt idx="31">
                  <c:v>02-May</c:v>
                </c:pt>
                <c:pt idx="32">
                  <c:v>03-May</c:v>
                </c:pt>
                <c:pt idx="33">
                  <c:v>04-May</c:v>
                </c:pt>
                <c:pt idx="34">
                  <c:v>05-May</c:v>
                </c:pt>
                <c:pt idx="35">
                  <c:v>06-May</c:v>
                </c:pt>
                <c:pt idx="36">
                  <c:v>07-May</c:v>
                </c:pt>
                <c:pt idx="37">
                  <c:v>08-May</c:v>
                </c:pt>
                <c:pt idx="38">
                  <c:v>09-May</c:v>
                </c:pt>
                <c:pt idx="39">
                  <c:v>10-May</c:v>
                </c:pt>
                <c:pt idx="40">
                  <c:v>11-May</c:v>
                </c:pt>
                <c:pt idx="41">
                  <c:v>12-May</c:v>
                </c:pt>
                <c:pt idx="42">
                  <c:v>13-May</c:v>
                </c:pt>
                <c:pt idx="43">
                  <c:v>14-May</c:v>
                </c:pt>
                <c:pt idx="44">
                  <c:v>15-May</c:v>
                </c:pt>
                <c:pt idx="45">
                  <c:v>16-May</c:v>
                </c:pt>
                <c:pt idx="46">
                  <c:v>17-May</c:v>
                </c:pt>
                <c:pt idx="47">
                  <c:v>18-May</c:v>
                </c:pt>
                <c:pt idx="48">
                  <c:v>19-May</c:v>
                </c:pt>
                <c:pt idx="49">
                  <c:v>20-May</c:v>
                </c:pt>
                <c:pt idx="50">
                  <c:v>21-May</c:v>
                </c:pt>
                <c:pt idx="51">
                  <c:v>22-May</c:v>
                </c:pt>
                <c:pt idx="52">
                  <c:v>23-May</c:v>
                </c:pt>
                <c:pt idx="53">
                  <c:v>24-May</c:v>
                </c:pt>
                <c:pt idx="54">
                  <c:v>25-May</c:v>
                </c:pt>
                <c:pt idx="55">
                  <c:v>26-May</c:v>
                </c:pt>
                <c:pt idx="56">
                  <c:v>27-May</c:v>
                </c:pt>
                <c:pt idx="57">
                  <c:v>28-May</c:v>
                </c:pt>
                <c:pt idx="58">
                  <c:v>29-May</c:v>
                </c:pt>
                <c:pt idx="59">
                  <c:v>30-May</c:v>
                </c:pt>
                <c:pt idx="60">
                  <c:v>31-May</c:v>
                </c:pt>
                <c:pt idx="61">
                  <c:v>01-Jun</c:v>
                </c:pt>
                <c:pt idx="62">
                  <c:v>02-Jun</c:v>
                </c:pt>
                <c:pt idx="63">
                  <c:v>03-Jun</c:v>
                </c:pt>
                <c:pt idx="64">
                  <c:v>04-Jun</c:v>
                </c:pt>
                <c:pt idx="65">
                  <c:v>05-Jun</c:v>
                </c:pt>
                <c:pt idx="66">
                  <c:v>06-Jun</c:v>
                </c:pt>
                <c:pt idx="67">
                  <c:v>07-Jun</c:v>
                </c:pt>
                <c:pt idx="68">
                  <c:v>08-Jun</c:v>
                </c:pt>
                <c:pt idx="69">
                  <c:v>09-Jun</c:v>
                </c:pt>
                <c:pt idx="70">
                  <c:v>10-Jun</c:v>
                </c:pt>
                <c:pt idx="71">
                  <c:v>11-Jun</c:v>
                </c:pt>
                <c:pt idx="72">
                  <c:v>12-Jun</c:v>
                </c:pt>
                <c:pt idx="73">
                  <c:v>13-Jun</c:v>
                </c:pt>
                <c:pt idx="74">
                  <c:v>14-Jun</c:v>
                </c:pt>
                <c:pt idx="75">
                  <c:v>15-Jun</c:v>
                </c:pt>
                <c:pt idx="76">
                  <c:v>16-Jun</c:v>
                </c:pt>
                <c:pt idx="77">
                  <c:v>17-Jun</c:v>
                </c:pt>
                <c:pt idx="78">
                  <c:v>18-Jun</c:v>
                </c:pt>
                <c:pt idx="79">
                  <c:v>19-Jun</c:v>
                </c:pt>
                <c:pt idx="80">
                  <c:v>20-Jun</c:v>
                </c:pt>
                <c:pt idx="81">
                  <c:v>21-Jun</c:v>
                </c:pt>
                <c:pt idx="82">
                  <c:v>22-Jun</c:v>
                </c:pt>
                <c:pt idx="83">
                  <c:v>23-Jun</c:v>
                </c:pt>
                <c:pt idx="84">
                  <c:v>24-Jun</c:v>
                </c:pt>
                <c:pt idx="85">
                  <c:v>25-Jun</c:v>
                </c:pt>
                <c:pt idx="86">
                  <c:v>26-Jun</c:v>
                </c:pt>
                <c:pt idx="87">
                  <c:v>27-Jun</c:v>
                </c:pt>
                <c:pt idx="88">
                  <c:v>28-Jun</c:v>
                </c:pt>
                <c:pt idx="89">
                  <c:v>29-Jun</c:v>
                </c:pt>
                <c:pt idx="90">
                  <c:v>30-Jun</c:v>
                </c:pt>
              </c:strCache>
            </c:strRef>
          </c:cat>
          <c:val>
            <c:numRef>
              <c:f>Daily_PV!$B$4:$B$94</c:f>
              <c:numCache>
                <c:formatCode>General</c:formatCode>
                <c:ptCount val="91"/>
                <c:pt idx="0">
                  <c:v>4812</c:v>
                </c:pt>
                <c:pt idx="1">
                  <c:v>8217</c:v>
                </c:pt>
                <c:pt idx="2">
                  <c:v>17934</c:v>
                </c:pt>
                <c:pt idx="3">
                  <c:v>15919</c:v>
                </c:pt>
                <c:pt idx="4">
                  <c:v>10248</c:v>
                </c:pt>
                <c:pt idx="5">
                  <c:v>15543</c:v>
                </c:pt>
                <c:pt idx="6">
                  <c:v>14058</c:v>
                </c:pt>
                <c:pt idx="7">
                  <c:v>4645</c:v>
                </c:pt>
                <c:pt idx="8">
                  <c:v>11047</c:v>
                </c:pt>
                <c:pt idx="9">
                  <c:v>4764</c:v>
                </c:pt>
                <c:pt idx="10">
                  <c:v>9813</c:v>
                </c:pt>
                <c:pt idx="11">
                  <c:v>9884</c:v>
                </c:pt>
                <c:pt idx="12">
                  <c:v>8937</c:v>
                </c:pt>
                <c:pt idx="13">
                  <c:v>7373</c:v>
                </c:pt>
                <c:pt idx="14">
                  <c:v>7613</c:v>
                </c:pt>
                <c:pt idx="15">
                  <c:v>9728</c:v>
                </c:pt>
                <c:pt idx="16">
                  <c:v>12548</c:v>
                </c:pt>
                <c:pt idx="17">
                  <c:v>11891</c:v>
                </c:pt>
                <c:pt idx="18">
                  <c:v>5883</c:v>
                </c:pt>
                <c:pt idx="19">
                  <c:v>5561</c:v>
                </c:pt>
                <c:pt idx="20">
                  <c:v>5671</c:v>
                </c:pt>
                <c:pt idx="21">
                  <c:v>9492</c:v>
                </c:pt>
                <c:pt idx="22">
                  <c:v>11813</c:v>
                </c:pt>
                <c:pt idx="23">
                  <c:v>13328</c:v>
                </c:pt>
                <c:pt idx="24">
                  <c:v>7717</c:v>
                </c:pt>
                <c:pt idx="25">
                  <c:v>12754</c:v>
                </c:pt>
                <c:pt idx="26">
                  <c:v>16214</c:v>
                </c:pt>
                <c:pt idx="27">
                  <c:v>5780</c:v>
                </c:pt>
                <c:pt idx="28">
                  <c:v>8443</c:v>
                </c:pt>
                <c:pt idx="29">
                  <c:v>10577</c:v>
                </c:pt>
                <c:pt idx="30">
                  <c:v>21690</c:v>
                </c:pt>
                <c:pt idx="31">
                  <c:v>22206</c:v>
                </c:pt>
                <c:pt idx="32">
                  <c:v>8531</c:v>
                </c:pt>
                <c:pt idx="33">
                  <c:v>7884</c:v>
                </c:pt>
                <c:pt idx="34">
                  <c:v>10693</c:v>
                </c:pt>
                <c:pt idx="35">
                  <c:v>8006</c:v>
                </c:pt>
                <c:pt idx="36">
                  <c:v>11233</c:v>
                </c:pt>
                <c:pt idx="37">
                  <c:v>12929</c:v>
                </c:pt>
                <c:pt idx="38">
                  <c:v>6071</c:v>
                </c:pt>
                <c:pt idx="39">
                  <c:v>7876</c:v>
                </c:pt>
                <c:pt idx="40">
                  <c:v>9380</c:v>
                </c:pt>
                <c:pt idx="41">
                  <c:v>11428</c:v>
                </c:pt>
                <c:pt idx="42">
                  <c:v>14119</c:v>
                </c:pt>
                <c:pt idx="43">
                  <c:v>17265</c:v>
                </c:pt>
                <c:pt idx="44">
                  <c:v>13049</c:v>
                </c:pt>
                <c:pt idx="45">
                  <c:v>20364</c:v>
                </c:pt>
                <c:pt idx="46">
                  <c:v>12795</c:v>
                </c:pt>
                <c:pt idx="47">
                  <c:v>10549</c:v>
                </c:pt>
                <c:pt idx="48">
                  <c:v>13406</c:v>
                </c:pt>
                <c:pt idx="49">
                  <c:v>17304</c:v>
                </c:pt>
                <c:pt idx="50">
                  <c:v>20889</c:v>
                </c:pt>
                <c:pt idx="51">
                  <c:v>30104</c:v>
                </c:pt>
                <c:pt idx="52">
                  <c:v>18677</c:v>
                </c:pt>
                <c:pt idx="53">
                  <c:v>16910</c:v>
                </c:pt>
                <c:pt idx="54">
                  <c:v>15846</c:v>
                </c:pt>
                <c:pt idx="55">
                  <c:v>17105</c:v>
                </c:pt>
                <c:pt idx="56">
                  <c:v>9676</c:v>
                </c:pt>
                <c:pt idx="57">
                  <c:v>5682</c:v>
                </c:pt>
                <c:pt idx="58">
                  <c:v>18111</c:v>
                </c:pt>
                <c:pt idx="59">
                  <c:v>22761</c:v>
                </c:pt>
                <c:pt idx="60">
                  <c:v>18455</c:v>
                </c:pt>
                <c:pt idx="61">
                  <c:v>16354</c:v>
                </c:pt>
                <c:pt idx="62">
                  <c:v>17081</c:v>
                </c:pt>
                <c:pt idx="63">
                  <c:v>19631</c:v>
                </c:pt>
                <c:pt idx="64">
                  <c:v>21521</c:v>
                </c:pt>
                <c:pt idx="65">
                  <c:v>30320</c:v>
                </c:pt>
                <c:pt idx="66">
                  <c:v>24527</c:v>
                </c:pt>
                <c:pt idx="67">
                  <c:v>14793</c:v>
                </c:pt>
                <c:pt idx="68">
                  <c:v>18815</c:v>
                </c:pt>
                <c:pt idx="69">
                  <c:v>20676</c:v>
                </c:pt>
                <c:pt idx="70">
                  <c:v>21281</c:v>
                </c:pt>
                <c:pt idx="71">
                  <c:v>24869</c:v>
                </c:pt>
                <c:pt idx="72">
                  <c:v>28841</c:v>
                </c:pt>
                <c:pt idx="73">
                  <c:v>29919</c:v>
                </c:pt>
                <c:pt idx="74">
                  <c:v>19366</c:v>
                </c:pt>
                <c:pt idx="75">
                  <c:v>20333</c:v>
                </c:pt>
                <c:pt idx="76">
                  <c:v>21539</c:v>
                </c:pt>
                <c:pt idx="77">
                  <c:v>21771</c:v>
                </c:pt>
                <c:pt idx="78">
                  <c:v>23542</c:v>
                </c:pt>
                <c:pt idx="79">
                  <c:v>31261</c:v>
                </c:pt>
                <c:pt idx="80">
                  <c:v>18388</c:v>
                </c:pt>
                <c:pt idx="81">
                  <c:v>17988</c:v>
                </c:pt>
                <c:pt idx="82">
                  <c:v>20929</c:v>
                </c:pt>
                <c:pt idx="83">
                  <c:v>19720</c:v>
                </c:pt>
                <c:pt idx="84">
                  <c:v>12373</c:v>
                </c:pt>
                <c:pt idx="85">
                  <c:v>13415</c:v>
                </c:pt>
                <c:pt idx="86">
                  <c:v>11694</c:v>
                </c:pt>
                <c:pt idx="87">
                  <c:v>24158</c:v>
                </c:pt>
                <c:pt idx="88">
                  <c:v>13383</c:v>
                </c:pt>
                <c:pt idx="89">
                  <c:v>14631</c:v>
                </c:pt>
                <c:pt idx="90">
                  <c:v>15659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AA-4359-9E1C-6DCBCCCF0ED4}"/>
            </c:ext>
          </c:extLst>
        </c:ser>
        <c:ser>
          <c:idx val="1"/>
          <c:order val="1"/>
          <c:tx>
            <c:strRef>
              <c:f>Daily_PV!$C$3</c:f>
              <c:strCache>
                <c:ptCount val="1"/>
                <c:pt idx="0">
                  <c:v>MemberCount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Daily_PV!$A$4:$A$94</c:f>
              <c:strCache>
                <c:ptCount val="91"/>
                <c:pt idx="0">
                  <c:v>01-Apr</c:v>
                </c:pt>
                <c:pt idx="1">
                  <c:v>02-Apr</c:v>
                </c:pt>
                <c:pt idx="2">
                  <c:v>03-Apr</c:v>
                </c:pt>
                <c:pt idx="3">
                  <c:v>04-Apr</c:v>
                </c:pt>
                <c:pt idx="4">
                  <c:v>05-Apr</c:v>
                </c:pt>
                <c:pt idx="5">
                  <c:v>06-Apr</c:v>
                </c:pt>
                <c:pt idx="6">
                  <c:v>07-Apr</c:v>
                </c:pt>
                <c:pt idx="7">
                  <c:v>08-Apr</c:v>
                </c:pt>
                <c:pt idx="8">
                  <c:v>09-Apr</c:v>
                </c:pt>
                <c:pt idx="9">
                  <c:v>10-Apr</c:v>
                </c:pt>
                <c:pt idx="10">
                  <c:v>11-Apr</c:v>
                </c:pt>
                <c:pt idx="11">
                  <c:v>12-Apr</c:v>
                </c:pt>
                <c:pt idx="12">
                  <c:v>13-Apr</c:v>
                </c:pt>
                <c:pt idx="13">
                  <c:v>14-Apr</c:v>
                </c:pt>
                <c:pt idx="14">
                  <c:v>15-Apr</c:v>
                </c:pt>
                <c:pt idx="15">
                  <c:v>16-Apr</c:v>
                </c:pt>
                <c:pt idx="16">
                  <c:v>17-Apr</c:v>
                </c:pt>
                <c:pt idx="17">
                  <c:v>18-Apr</c:v>
                </c:pt>
                <c:pt idx="18">
                  <c:v>19-Apr</c:v>
                </c:pt>
                <c:pt idx="19">
                  <c:v>20-Apr</c:v>
                </c:pt>
                <c:pt idx="20">
                  <c:v>21-Apr</c:v>
                </c:pt>
                <c:pt idx="21">
                  <c:v>22-Apr</c:v>
                </c:pt>
                <c:pt idx="22">
                  <c:v>23-Apr</c:v>
                </c:pt>
                <c:pt idx="23">
                  <c:v>24-Apr</c:v>
                </c:pt>
                <c:pt idx="24">
                  <c:v>25-Apr</c:v>
                </c:pt>
                <c:pt idx="25">
                  <c:v>26-Apr</c:v>
                </c:pt>
                <c:pt idx="26">
                  <c:v>27-Apr</c:v>
                </c:pt>
                <c:pt idx="27">
                  <c:v>28-Apr</c:v>
                </c:pt>
                <c:pt idx="28">
                  <c:v>29-Apr</c:v>
                </c:pt>
                <c:pt idx="29">
                  <c:v>30-Apr</c:v>
                </c:pt>
                <c:pt idx="30">
                  <c:v>01-May</c:v>
                </c:pt>
                <c:pt idx="31">
                  <c:v>02-May</c:v>
                </c:pt>
                <c:pt idx="32">
                  <c:v>03-May</c:v>
                </c:pt>
                <c:pt idx="33">
                  <c:v>04-May</c:v>
                </c:pt>
                <c:pt idx="34">
                  <c:v>05-May</c:v>
                </c:pt>
                <c:pt idx="35">
                  <c:v>06-May</c:v>
                </c:pt>
                <c:pt idx="36">
                  <c:v>07-May</c:v>
                </c:pt>
                <c:pt idx="37">
                  <c:v>08-May</c:v>
                </c:pt>
                <c:pt idx="38">
                  <c:v>09-May</c:v>
                </c:pt>
                <c:pt idx="39">
                  <c:v>10-May</c:v>
                </c:pt>
                <c:pt idx="40">
                  <c:v>11-May</c:v>
                </c:pt>
                <c:pt idx="41">
                  <c:v>12-May</c:v>
                </c:pt>
                <c:pt idx="42">
                  <c:v>13-May</c:v>
                </c:pt>
                <c:pt idx="43">
                  <c:v>14-May</c:v>
                </c:pt>
                <c:pt idx="44">
                  <c:v>15-May</c:v>
                </c:pt>
                <c:pt idx="45">
                  <c:v>16-May</c:v>
                </c:pt>
                <c:pt idx="46">
                  <c:v>17-May</c:v>
                </c:pt>
                <c:pt idx="47">
                  <c:v>18-May</c:v>
                </c:pt>
                <c:pt idx="48">
                  <c:v>19-May</c:v>
                </c:pt>
                <c:pt idx="49">
                  <c:v>20-May</c:v>
                </c:pt>
                <c:pt idx="50">
                  <c:v>21-May</c:v>
                </c:pt>
                <c:pt idx="51">
                  <c:v>22-May</c:v>
                </c:pt>
                <c:pt idx="52">
                  <c:v>23-May</c:v>
                </c:pt>
                <c:pt idx="53">
                  <c:v>24-May</c:v>
                </c:pt>
                <c:pt idx="54">
                  <c:v>25-May</c:v>
                </c:pt>
                <c:pt idx="55">
                  <c:v>26-May</c:v>
                </c:pt>
                <c:pt idx="56">
                  <c:v>27-May</c:v>
                </c:pt>
                <c:pt idx="57">
                  <c:v>28-May</c:v>
                </c:pt>
                <c:pt idx="58">
                  <c:v>29-May</c:v>
                </c:pt>
                <c:pt idx="59">
                  <c:v>30-May</c:v>
                </c:pt>
                <c:pt idx="60">
                  <c:v>31-May</c:v>
                </c:pt>
                <c:pt idx="61">
                  <c:v>01-Jun</c:v>
                </c:pt>
                <c:pt idx="62">
                  <c:v>02-Jun</c:v>
                </c:pt>
                <c:pt idx="63">
                  <c:v>03-Jun</c:v>
                </c:pt>
                <c:pt idx="64">
                  <c:v>04-Jun</c:v>
                </c:pt>
                <c:pt idx="65">
                  <c:v>05-Jun</c:v>
                </c:pt>
                <c:pt idx="66">
                  <c:v>06-Jun</c:v>
                </c:pt>
                <c:pt idx="67">
                  <c:v>07-Jun</c:v>
                </c:pt>
                <c:pt idx="68">
                  <c:v>08-Jun</c:v>
                </c:pt>
                <c:pt idx="69">
                  <c:v>09-Jun</c:v>
                </c:pt>
                <c:pt idx="70">
                  <c:v>10-Jun</c:v>
                </c:pt>
                <c:pt idx="71">
                  <c:v>11-Jun</c:v>
                </c:pt>
                <c:pt idx="72">
                  <c:v>12-Jun</c:v>
                </c:pt>
                <c:pt idx="73">
                  <c:v>13-Jun</c:v>
                </c:pt>
                <c:pt idx="74">
                  <c:v>14-Jun</c:v>
                </c:pt>
                <c:pt idx="75">
                  <c:v>15-Jun</c:v>
                </c:pt>
                <c:pt idx="76">
                  <c:v>16-Jun</c:v>
                </c:pt>
                <c:pt idx="77">
                  <c:v>17-Jun</c:v>
                </c:pt>
                <c:pt idx="78">
                  <c:v>18-Jun</c:v>
                </c:pt>
                <c:pt idx="79">
                  <c:v>19-Jun</c:v>
                </c:pt>
                <c:pt idx="80">
                  <c:v>20-Jun</c:v>
                </c:pt>
                <c:pt idx="81">
                  <c:v>21-Jun</c:v>
                </c:pt>
                <c:pt idx="82">
                  <c:v>22-Jun</c:v>
                </c:pt>
                <c:pt idx="83">
                  <c:v>23-Jun</c:v>
                </c:pt>
                <c:pt idx="84">
                  <c:v>24-Jun</c:v>
                </c:pt>
                <c:pt idx="85">
                  <c:v>25-Jun</c:v>
                </c:pt>
                <c:pt idx="86">
                  <c:v>26-Jun</c:v>
                </c:pt>
                <c:pt idx="87">
                  <c:v>27-Jun</c:v>
                </c:pt>
                <c:pt idx="88">
                  <c:v>28-Jun</c:v>
                </c:pt>
                <c:pt idx="89">
                  <c:v>29-Jun</c:v>
                </c:pt>
                <c:pt idx="90">
                  <c:v>30-Jun</c:v>
                </c:pt>
              </c:strCache>
            </c:strRef>
          </c:cat>
          <c:val>
            <c:numRef>
              <c:f>Daily_PV!$C$4:$C$94</c:f>
              <c:numCache>
                <c:formatCode>General</c:formatCode>
                <c:ptCount val="91"/>
                <c:pt idx="0">
                  <c:v>3554</c:v>
                </c:pt>
                <c:pt idx="1">
                  <c:v>5065</c:v>
                </c:pt>
                <c:pt idx="2">
                  <c:v>7685</c:v>
                </c:pt>
                <c:pt idx="3">
                  <c:v>6671</c:v>
                </c:pt>
                <c:pt idx="4">
                  <c:v>6185</c:v>
                </c:pt>
                <c:pt idx="5">
                  <c:v>8573</c:v>
                </c:pt>
                <c:pt idx="6">
                  <c:v>8316</c:v>
                </c:pt>
                <c:pt idx="7">
                  <c:v>3385</c:v>
                </c:pt>
                <c:pt idx="8">
                  <c:v>6526</c:v>
                </c:pt>
                <c:pt idx="9">
                  <c:v>2838</c:v>
                </c:pt>
                <c:pt idx="10">
                  <c:v>5218</c:v>
                </c:pt>
                <c:pt idx="11">
                  <c:v>6451</c:v>
                </c:pt>
                <c:pt idx="12">
                  <c:v>6300</c:v>
                </c:pt>
                <c:pt idx="13">
                  <c:v>5472</c:v>
                </c:pt>
                <c:pt idx="14">
                  <c:v>5445</c:v>
                </c:pt>
                <c:pt idx="15">
                  <c:v>6201</c:v>
                </c:pt>
                <c:pt idx="16">
                  <c:v>6287</c:v>
                </c:pt>
                <c:pt idx="17">
                  <c:v>6128</c:v>
                </c:pt>
                <c:pt idx="18">
                  <c:v>4396</c:v>
                </c:pt>
                <c:pt idx="19">
                  <c:v>4268</c:v>
                </c:pt>
                <c:pt idx="20">
                  <c:v>4350</c:v>
                </c:pt>
                <c:pt idx="21">
                  <c:v>6370</c:v>
                </c:pt>
                <c:pt idx="22">
                  <c:v>7206</c:v>
                </c:pt>
                <c:pt idx="23">
                  <c:v>6753</c:v>
                </c:pt>
                <c:pt idx="24">
                  <c:v>4455</c:v>
                </c:pt>
                <c:pt idx="25">
                  <c:v>7678</c:v>
                </c:pt>
                <c:pt idx="26">
                  <c:v>9185</c:v>
                </c:pt>
                <c:pt idx="27">
                  <c:v>4396</c:v>
                </c:pt>
                <c:pt idx="28">
                  <c:v>5845</c:v>
                </c:pt>
                <c:pt idx="29">
                  <c:v>6585</c:v>
                </c:pt>
                <c:pt idx="30">
                  <c:v>8851</c:v>
                </c:pt>
                <c:pt idx="31">
                  <c:v>8657</c:v>
                </c:pt>
                <c:pt idx="32">
                  <c:v>5508</c:v>
                </c:pt>
                <c:pt idx="33">
                  <c:v>5690</c:v>
                </c:pt>
                <c:pt idx="34">
                  <c:v>7244</c:v>
                </c:pt>
                <c:pt idx="35">
                  <c:v>5550</c:v>
                </c:pt>
                <c:pt idx="36">
                  <c:v>6828</c:v>
                </c:pt>
                <c:pt idx="37">
                  <c:v>6428</c:v>
                </c:pt>
                <c:pt idx="38">
                  <c:v>3454</c:v>
                </c:pt>
                <c:pt idx="39">
                  <c:v>5463</c:v>
                </c:pt>
                <c:pt idx="40">
                  <c:v>6538</c:v>
                </c:pt>
                <c:pt idx="41">
                  <c:v>7683</c:v>
                </c:pt>
                <c:pt idx="42">
                  <c:v>8630</c:v>
                </c:pt>
                <c:pt idx="43">
                  <c:v>9208</c:v>
                </c:pt>
                <c:pt idx="44">
                  <c:v>5932</c:v>
                </c:pt>
                <c:pt idx="45">
                  <c:v>8466</c:v>
                </c:pt>
                <c:pt idx="46">
                  <c:v>7823</c:v>
                </c:pt>
                <c:pt idx="47">
                  <c:v>6850</c:v>
                </c:pt>
                <c:pt idx="48">
                  <c:v>8623</c:v>
                </c:pt>
                <c:pt idx="49">
                  <c:v>9753</c:v>
                </c:pt>
                <c:pt idx="50">
                  <c:v>10288</c:v>
                </c:pt>
                <c:pt idx="51">
                  <c:v>10985</c:v>
                </c:pt>
                <c:pt idx="52">
                  <c:v>7703</c:v>
                </c:pt>
                <c:pt idx="53">
                  <c:v>9501</c:v>
                </c:pt>
                <c:pt idx="54">
                  <c:v>9589</c:v>
                </c:pt>
                <c:pt idx="55">
                  <c:v>10155</c:v>
                </c:pt>
                <c:pt idx="56">
                  <c:v>6586</c:v>
                </c:pt>
                <c:pt idx="57">
                  <c:v>3786</c:v>
                </c:pt>
                <c:pt idx="58">
                  <c:v>7460</c:v>
                </c:pt>
                <c:pt idx="59">
                  <c:v>7667</c:v>
                </c:pt>
                <c:pt idx="60">
                  <c:v>7266</c:v>
                </c:pt>
                <c:pt idx="61">
                  <c:v>9436</c:v>
                </c:pt>
                <c:pt idx="62">
                  <c:v>10354</c:v>
                </c:pt>
                <c:pt idx="63">
                  <c:v>10939</c:v>
                </c:pt>
                <c:pt idx="64">
                  <c:v>10718</c:v>
                </c:pt>
                <c:pt idx="65">
                  <c:v>11207</c:v>
                </c:pt>
                <c:pt idx="66">
                  <c:v>9675</c:v>
                </c:pt>
                <c:pt idx="67">
                  <c:v>8579</c:v>
                </c:pt>
                <c:pt idx="68">
                  <c:v>10925</c:v>
                </c:pt>
                <c:pt idx="69">
                  <c:v>11794</c:v>
                </c:pt>
                <c:pt idx="70">
                  <c:v>11581</c:v>
                </c:pt>
                <c:pt idx="71">
                  <c:v>11696</c:v>
                </c:pt>
                <c:pt idx="72">
                  <c:v>10774</c:v>
                </c:pt>
                <c:pt idx="73">
                  <c:v>11020</c:v>
                </c:pt>
                <c:pt idx="74">
                  <c:v>10418</c:v>
                </c:pt>
                <c:pt idx="75">
                  <c:v>11467</c:v>
                </c:pt>
                <c:pt idx="76">
                  <c:v>12205</c:v>
                </c:pt>
                <c:pt idx="77">
                  <c:v>11732</c:v>
                </c:pt>
                <c:pt idx="78">
                  <c:v>10922</c:v>
                </c:pt>
                <c:pt idx="79">
                  <c:v>11579</c:v>
                </c:pt>
                <c:pt idx="80">
                  <c:v>7474</c:v>
                </c:pt>
                <c:pt idx="81">
                  <c:v>10300</c:v>
                </c:pt>
                <c:pt idx="82">
                  <c:v>11752</c:v>
                </c:pt>
                <c:pt idx="83">
                  <c:v>11415</c:v>
                </c:pt>
                <c:pt idx="84">
                  <c:v>7671</c:v>
                </c:pt>
                <c:pt idx="85">
                  <c:v>6920</c:v>
                </c:pt>
                <c:pt idx="86">
                  <c:v>5288</c:v>
                </c:pt>
                <c:pt idx="87">
                  <c:v>10003</c:v>
                </c:pt>
                <c:pt idx="88">
                  <c:v>8126</c:v>
                </c:pt>
                <c:pt idx="89">
                  <c:v>8826</c:v>
                </c:pt>
                <c:pt idx="90">
                  <c:v>9790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AA-4359-9E1C-6DCBCCCF0ED4}"/>
            </c:ext>
          </c:extLst>
        </c:ser>
        <c:ser>
          <c:idx val="2"/>
          <c:order val="2"/>
          <c:tx>
            <c:strRef>
              <c:f>Daily_PV!$D$3</c:f>
              <c:strCache>
                <c:ptCount val="1"/>
                <c:pt idx="0">
                  <c:v>CasualCount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Daily_PV!$A$4:$A$94</c:f>
              <c:strCache>
                <c:ptCount val="91"/>
                <c:pt idx="0">
                  <c:v>01-Apr</c:v>
                </c:pt>
                <c:pt idx="1">
                  <c:v>02-Apr</c:v>
                </c:pt>
                <c:pt idx="2">
                  <c:v>03-Apr</c:v>
                </c:pt>
                <c:pt idx="3">
                  <c:v>04-Apr</c:v>
                </c:pt>
                <c:pt idx="4">
                  <c:v>05-Apr</c:v>
                </c:pt>
                <c:pt idx="5">
                  <c:v>06-Apr</c:v>
                </c:pt>
                <c:pt idx="6">
                  <c:v>07-Apr</c:v>
                </c:pt>
                <c:pt idx="7">
                  <c:v>08-Apr</c:v>
                </c:pt>
                <c:pt idx="8">
                  <c:v>09-Apr</c:v>
                </c:pt>
                <c:pt idx="9">
                  <c:v>10-Apr</c:v>
                </c:pt>
                <c:pt idx="10">
                  <c:v>11-Apr</c:v>
                </c:pt>
                <c:pt idx="11">
                  <c:v>12-Apr</c:v>
                </c:pt>
                <c:pt idx="12">
                  <c:v>13-Apr</c:v>
                </c:pt>
                <c:pt idx="13">
                  <c:v>14-Apr</c:v>
                </c:pt>
                <c:pt idx="14">
                  <c:v>15-Apr</c:v>
                </c:pt>
                <c:pt idx="15">
                  <c:v>16-Apr</c:v>
                </c:pt>
                <c:pt idx="16">
                  <c:v>17-Apr</c:v>
                </c:pt>
                <c:pt idx="17">
                  <c:v>18-Apr</c:v>
                </c:pt>
                <c:pt idx="18">
                  <c:v>19-Apr</c:v>
                </c:pt>
                <c:pt idx="19">
                  <c:v>20-Apr</c:v>
                </c:pt>
                <c:pt idx="20">
                  <c:v>21-Apr</c:v>
                </c:pt>
                <c:pt idx="21">
                  <c:v>22-Apr</c:v>
                </c:pt>
                <c:pt idx="22">
                  <c:v>23-Apr</c:v>
                </c:pt>
                <c:pt idx="23">
                  <c:v>24-Apr</c:v>
                </c:pt>
                <c:pt idx="24">
                  <c:v>25-Apr</c:v>
                </c:pt>
                <c:pt idx="25">
                  <c:v>26-Apr</c:v>
                </c:pt>
                <c:pt idx="26">
                  <c:v>27-Apr</c:v>
                </c:pt>
                <c:pt idx="27">
                  <c:v>28-Apr</c:v>
                </c:pt>
                <c:pt idx="28">
                  <c:v>29-Apr</c:v>
                </c:pt>
                <c:pt idx="29">
                  <c:v>30-Apr</c:v>
                </c:pt>
                <c:pt idx="30">
                  <c:v>01-May</c:v>
                </c:pt>
                <c:pt idx="31">
                  <c:v>02-May</c:v>
                </c:pt>
                <c:pt idx="32">
                  <c:v>03-May</c:v>
                </c:pt>
                <c:pt idx="33">
                  <c:v>04-May</c:v>
                </c:pt>
                <c:pt idx="34">
                  <c:v>05-May</c:v>
                </c:pt>
                <c:pt idx="35">
                  <c:v>06-May</c:v>
                </c:pt>
                <c:pt idx="36">
                  <c:v>07-May</c:v>
                </c:pt>
                <c:pt idx="37">
                  <c:v>08-May</c:v>
                </c:pt>
                <c:pt idx="38">
                  <c:v>09-May</c:v>
                </c:pt>
                <c:pt idx="39">
                  <c:v>10-May</c:v>
                </c:pt>
                <c:pt idx="40">
                  <c:v>11-May</c:v>
                </c:pt>
                <c:pt idx="41">
                  <c:v>12-May</c:v>
                </c:pt>
                <c:pt idx="42">
                  <c:v>13-May</c:v>
                </c:pt>
                <c:pt idx="43">
                  <c:v>14-May</c:v>
                </c:pt>
                <c:pt idx="44">
                  <c:v>15-May</c:v>
                </c:pt>
                <c:pt idx="45">
                  <c:v>16-May</c:v>
                </c:pt>
                <c:pt idx="46">
                  <c:v>17-May</c:v>
                </c:pt>
                <c:pt idx="47">
                  <c:v>18-May</c:v>
                </c:pt>
                <c:pt idx="48">
                  <c:v>19-May</c:v>
                </c:pt>
                <c:pt idx="49">
                  <c:v>20-May</c:v>
                </c:pt>
                <c:pt idx="50">
                  <c:v>21-May</c:v>
                </c:pt>
                <c:pt idx="51">
                  <c:v>22-May</c:v>
                </c:pt>
                <c:pt idx="52">
                  <c:v>23-May</c:v>
                </c:pt>
                <c:pt idx="53">
                  <c:v>24-May</c:v>
                </c:pt>
                <c:pt idx="54">
                  <c:v>25-May</c:v>
                </c:pt>
                <c:pt idx="55">
                  <c:v>26-May</c:v>
                </c:pt>
                <c:pt idx="56">
                  <c:v>27-May</c:v>
                </c:pt>
                <c:pt idx="57">
                  <c:v>28-May</c:v>
                </c:pt>
                <c:pt idx="58">
                  <c:v>29-May</c:v>
                </c:pt>
                <c:pt idx="59">
                  <c:v>30-May</c:v>
                </c:pt>
                <c:pt idx="60">
                  <c:v>31-May</c:v>
                </c:pt>
                <c:pt idx="61">
                  <c:v>01-Jun</c:v>
                </c:pt>
                <c:pt idx="62">
                  <c:v>02-Jun</c:v>
                </c:pt>
                <c:pt idx="63">
                  <c:v>03-Jun</c:v>
                </c:pt>
                <c:pt idx="64">
                  <c:v>04-Jun</c:v>
                </c:pt>
                <c:pt idx="65">
                  <c:v>05-Jun</c:v>
                </c:pt>
                <c:pt idx="66">
                  <c:v>06-Jun</c:v>
                </c:pt>
                <c:pt idx="67">
                  <c:v>07-Jun</c:v>
                </c:pt>
                <c:pt idx="68">
                  <c:v>08-Jun</c:v>
                </c:pt>
                <c:pt idx="69">
                  <c:v>09-Jun</c:v>
                </c:pt>
                <c:pt idx="70">
                  <c:v>10-Jun</c:v>
                </c:pt>
                <c:pt idx="71">
                  <c:v>11-Jun</c:v>
                </c:pt>
                <c:pt idx="72">
                  <c:v>12-Jun</c:v>
                </c:pt>
                <c:pt idx="73">
                  <c:v>13-Jun</c:v>
                </c:pt>
                <c:pt idx="74">
                  <c:v>14-Jun</c:v>
                </c:pt>
                <c:pt idx="75">
                  <c:v>15-Jun</c:v>
                </c:pt>
                <c:pt idx="76">
                  <c:v>16-Jun</c:v>
                </c:pt>
                <c:pt idx="77">
                  <c:v>17-Jun</c:v>
                </c:pt>
                <c:pt idx="78">
                  <c:v>18-Jun</c:v>
                </c:pt>
                <c:pt idx="79">
                  <c:v>19-Jun</c:v>
                </c:pt>
                <c:pt idx="80">
                  <c:v>20-Jun</c:v>
                </c:pt>
                <c:pt idx="81">
                  <c:v>21-Jun</c:v>
                </c:pt>
                <c:pt idx="82">
                  <c:v>22-Jun</c:v>
                </c:pt>
                <c:pt idx="83">
                  <c:v>23-Jun</c:v>
                </c:pt>
                <c:pt idx="84">
                  <c:v>24-Jun</c:v>
                </c:pt>
                <c:pt idx="85">
                  <c:v>25-Jun</c:v>
                </c:pt>
                <c:pt idx="86">
                  <c:v>26-Jun</c:v>
                </c:pt>
                <c:pt idx="87">
                  <c:v>27-Jun</c:v>
                </c:pt>
                <c:pt idx="88">
                  <c:v>28-Jun</c:v>
                </c:pt>
                <c:pt idx="89">
                  <c:v>29-Jun</c:v>
                </c:pt>
                <c:pt idx="90">
                  <c:v>30-Jun</c:v>
                </c:pt>
              </c:strCache>
            </c:strRef>
          </c:cat>
          <c:val>
            <c:numRef>
              <c:f>Daily_PV!$D$4:$D$94</c:f>
              <c:numCache>
                <c:formatCode>General</c:formatCode>
                <c:ptCount val="91"/>
                <c:pt idx="0">
                  <c:v>1258</c:v>
                </c:pt>
                <c:pt idx="1">
                  <c:v>3152</c:v>
                </c:pt>
                <c:pt idx="2">
                  <c:v>10249</c:v>
                </c:pt>
                <c:pt idx="3">
                  <c:v>9248</c:v>
                </c:pt>
                <c:pt idx="4">
                  <c:v>4063</c:v>
                </c:pt>
                <c:pt idx="5">
                  <c:v>6970</c:v>
                </c:pt>
                <c:pt idx="6">
                  <c:v>5742</c:v>
                </c:pt>
                <c:pt idx="7">
                  <c:v>1260</c:v>
                </c:pt>
                <c:pt idx="8">
                  <c:v>4521</c:v>
                </c:pt>
                <c:pt idx="9">
                  <c:v>1926</c:v>
                </c:pt>
                <c:pt idx="10">
                  <c:v>4595</c:v>
                </c:pt>
                <c:pt idx="11">
                  <c:v>3433</c:v>
                </c:pt>
                <c:pt idx="12">
                  <c:v>2637</c:v>
                </c:pt>
                <c:pt idx="13">
                  <c:v>1901</c:v>
                </c:pt>
                <c:pt idx="14">
                  <c:v>2168</c:v>
                </c:pt>
                <c:pt idx="15">
                  <c:v>3527</c:v>
                </c:pt>
                <c:pt idx="16">
                  <c:v>6261</c:v>
                </c:pt>
                <c:pt idx="17">
                  <c:v>5763</c:v>
                </c:pt>
                <c:pt idx="18">
                  <c:v>1487</c:v>
                </c:pt>
                <c:pt idx="19">
                  <c:v>1293</c:v>
                </c:pt>
                <c:pt idx="20">
                  <c:v>1321</c:v>
                </c:pt>
                <c:pt idx="21">
                  <c:v>3122</c:v>
                </c:pt>
                <c:pt idx="22">
                  <c:v>4607</c:v>
                </c:pt>
                <c:pt idx="23">
                  <c:v>6575</c:v>
                </c:pt>
                <c:pt idx="24">
                  <c:v>3262</c:v>
                </c:pt>
                <c:pt idx="25">
                  <c:v>5076</c:v>
                </c:pt>
                <c:pt idx="26">
                  <c:v>7029</c:v>
                </c:pt>
                <c:pt idx="27">
                  <c:v>1384</c:v>
                </c:pt>
                <c:pt idx="28">
                  <c:v>2598</c:v>
                </c:pt>
                <c:pt idx="29">
                  <c:v>3992</c:v>
                </c:pt>
                <c:pt idx="30">
                  <c:v>12839</c:v>
                </c:pt>
                <c:pt idx="31">
                  <c:v>13549</c:v>
                </c:pt>
                <c:pt idx="32">
                  <c:v>3023</c:v>
                </c:pt>
                <c:pt idx="33">
                  <c:v>2194</c:v>
                </c:pt>
                <c:pt idx="34">
                  <c:v>3449</c:v>
                </c:pt>
                <c:pt idx="35">
                  <c:v>2456</c:v>
                </c:pt>
                <c:pt idx="36">
                  <c:v>4405</c:v>
                </c:pt>
                <c:pt idx="37">
                  <c:v>6501</c:v>
                </c:pt>
                <c:pt idx="38">
                  <c:v>2617</c:v>
                </c:pt>
                <c:pt idx="39">
                  <c:v>2413</c:v>
                </c:pt>
                <c:pt idx="40">
                  <c:v>2842</c:v>
                </c:pt>
                <c:pt idx="41">
                  <c:v>3745</c:v>
                </c:pt>
                <c:pt idx="42">
                  <c:v>5489</c:v>
                </c:pt>
                <c:pt idx="43">
                  <c:v>8057</c:v>
                </c:pt>
                <c:pt idx="44">
                  <c:v>7117</c:v>
                </c:pt>
                <c:pt idx="45">
                  <c:v>11898</c:v>
                </c:pt>
                <c:pt idx="46">
                  <c:v>4972</c:v>
                </c:pt>
                <c:pt idx="47">
                  <c:v>3699</c:v>
                </c:pt>
                <c:pt idx="48">
                  <c:v>4783</c:v>
                </c:pt>
                <c:pt idx="49">
                  <c:v>7551</c:v>
                </c:pt>
                <c:pt idx="50">
                  <c:v>10601</c:v>
                </c:pt>
                <c:pt idx="51">
                  <c:v>19119</c:v>
                </c:pt>
                <c:pt idx="52">
                  <c:v>10974</c:v>
                </c:pt>
                <c:pt idx="53">
                  <c:v>7409</c:v>
                </c:pt>
                <c:pt idx="54">
                  <c:v>6257</c:v>
                </c:pt>
                <c:pt idx="55">
                  <c:v>6950</c:v>
                </c:pt>
                <c:pt idx="56">
                  <c:v>3090</c:v>
                </c:pt>
                <c:pt idx="57">
                  <c:v>1896</c:v>
                </c:pt>
                <c:pt idx="58">
                  <c:v>10651</c:v>
                </c:pt>
                <c:pt idx="59">
                  <c:v>15094</c:v>
                </c:pt>
                <c:pt idx="60">
                  <c:v>11189</c:v>
                </c:pt>
                <c:pt idx="61">
                  <c:v>6918</c:v>
                </c:pt>
                <c:pt idx="62">
                  <c:v>6727</c:v>
                </c:pt>
                <c:pt idx="63">
                  <c:v>8692</c:v>
                </c:pt>
                <c:pt idx="64">
                  <c:v>10803</c:v>
                </c:pt>
                <c:pt idx="65">
                  <c:v>19113</c:v>
                </c:pt>
                <c:pt idx="66">
                  <c:v>14852</c:v>
                </c:pt>
                <c:pt idx="67">
                  <c:v>6214</c:v>
                </c:pt>
                <c:pt idx="68">
                  <c:v>7890</c:v>
                </c:pt>
                <c:pt idx="69">
                  <c:v>8882</c:v>
                </c:pt>
                <c:pt idx="70">
                  <c:v>9700</c:v>
                </c:pt>
                <c:pt idx="71">
                  <c:v>13173</c:v>
                </c:pt>
                <c:pt idx="72">
                  <c:v>18067</c:v>
                </c:pt>
                <c:pt idx="73">
                  <c:v>18899</c:v>
                </c:pt>
                <c:pt idx="74">
                  <c:v>8948</c:v>
                </c:pt>
                <c:pt idx="75">
                  <c:v>8866</c:v>
                </c:pt>
                <c:pt idx="76">
                  <c:v>9334</c:v>
                </c:pt>
                <c:pt idx="77">
                  <c:v>10039</c:v>
                </c:pt>
                <c:pt idx="78">
                  <c:v>12620</c:v>
                </c:pt>
                <c:pt idx="79">
                  <c:v>19682</c:v>
                </c:pt>
                <c:pt idx="80">
                  <c:v>10914</c:v>
                </c:pt>
                <c:pt idx="81">
                  <c:v>7688</c:v>
                </c:pt>
                <c:pt idx="82">
                  <c:v>9177</c:v>
                </c:pt>
                <c:pt idx="83">
                  <c:v>8305</c:v>
                </c:pt>
                <c:pt idx="84">
                  <c:v>4702</c:v>
                </c:pt>
                <c:pt idx="85">
                  <c:v>6495</c:v>
                </c:pt>
                <c:pt idx="86">
                  <c:v>6406</c:v>
                </c:pt>
                <c:pt idx="87">
                  <c:v>14155</c:v>
                </c:pt>
                <c:pt idx="88">
                  <c:v>5257</c:v>
                </c:pt>
                <c:pt idx="89">
                  <c:v>5805</c:v>
                </c:pt>
                <c:pt idx="90">
                  <c:v>5869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4AA-4359-9E1C-6DCBCCCF0E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59299008"/>
        <c:axId val="559300448"/>
      </c:lineChart>
      <c:catAx>
        <c:axId val="559299008"/>
        <c:scaling>
          <c:orientation val="minMax"/>
        </c:scaling>
        <c:delete val="0"/>
        <c:axPos val="b"/>
        <c:numFmt formatCode="#,##0,&quot;k&quot;\ 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9300448"/>
        <c:crosses val="autoZero"/>
        <c:auto val="1"/>
        <c:lblAlgn val="ctr"/>
        <c:lblOffset val="100"/>
        <c:noMultiLvlLbl val="0"/>
      </c:catAx>
      <c:valAx>
        <c:axId val="559300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,&quot;k&quot;\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9299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/>
              <a:t>Percentage of Rideable Types</a:t>
            </a:r>
          </a:p>
        </c:rich>
      </c:tx>
      <c:layout>
        <c:manualLayout>
          <c:xMode val="edge"/>
          <c:yMode val="edge"/>
          <c:x val="0.23126347636626368"/>
          <c:y val="4.419586482837068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1"/>
          <c:order val="1"/>
          <c:tx>
            <c:strRef>
              <c:f>'monthly_data (1)'!$J$1</c:f>
              <c:strCache>
                <c:ptCount val="1"/>
                <c:pt idx="0">
                  <c:v>percentage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6A1-4A1B-89F7-DB4BDC7DE44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6A1-4A1B-89F7-DB4BDC7DE44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6A1-4A1B-89F7-DB4BDC7DE44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'monthly_data (1)'!$H$2:$H$4</c:f>
              <c:strCache>
                <c:ptCount val="3"/>
                <c:pt idx="0">
                  <c:v>Classic_bike</c:v>
                </c:pt>
                <c:pt idx="1">
                  <c:v>Electric_bike</c:v>
                </c:pt>
                <c:pt idx="2">
                  <c:v>Docked_bike</c:v>
                </c:pt>
              </c:strCache>
            </c:strRef>
          </c:cat>
          <c:val>
            <c:numRef>
              <c:f>'monthly_data (1)'!$J$2:$J$4</c:f>
              <c:numCache>
                <c:formatCode>0%</c:formatCode>
                <c:ptCount val="3"/>
                <c:pt idx="0">
                  <c:v>0.70416773749814987</c:v>
                </c:pt>
                <c:pt idx="1">
                  <c:v>0.20762544928898016</c:v>
                </c:pt>
                <c:pt idx="2">
                  <c:v>8.8206813212870008E-2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6A1-4A1B-89F7-DB4BDC7DE44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'monthly_data (1)'!$I$1</c15:sqref>
                        </c15:formulaRef>
                      </c:ext>
                    </c:extLst>
                    <c:strCache>
                      <c:ptCount val="1"/>
                      <c:pt idx="0">
                        <c:v>Count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8-76A1-4A1B-89F7-DB4BDC7DE449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A-76A1-4A1B-89F7-DB4BDC7DE449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C-76A1-4A1B-89F7-DB4BDC7DE449}"/>
                    </c:ext>
                  </c:extLst>
                </c:dPt>
                <c:dLbls>
                  <c:numFmt formatCode="General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bestFit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'monthly_data (1)'!$H$2:$H$4</c15:sqref>
                        </c15:formulaRef>
                      </c:ext>
                    </c:extLst>
                    <c:strCache>
                      <c:ptCount val="3"/>
                      <c:pt idx="0">
                        <c:v>Classic_bike</c:v>
                      </c:pt>
                      <c:pt idx="1">
                        <c:v>Electric_bike</c:v>
                      </c:pt>
                      <c:pt idx="2">
                        <c:v>Docked_bike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'monthly_data (1)'!$I$2:$I$4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956245</c:v>
                      </c:pt>
                      <c:pt idx="1">
                        <c:v>281951</c:v>
                      </c:pt>
                      <c:pt idx="2">
                        <c:v>119783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D-76A1-4A1B-89F7-DB4BDC7DE449}"/>
                  </c:ext>
                </c:extLst>
              </c15:ser>
            </c15:filteredPieSeries>
          </c:ext>
        </c:extLst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[DashBoard_Project_2.xlsx]Mthly_PV!PivotTable3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Monthly</a:t>
            </a:r>
            <a:r>
              <a:rPr lang="en-US" baseline="0"/>
              <a:t> Ride by Rideable Types</a:t>
            </a:r>
            <a:endParaRPr lang="en-US"/>
          </a:p>
        </c:rich>
      </c:tx>
      <c:layout>
        <c:manualLayout>
          <c:xMode val="edge"/>
          <c:yMode val="edge"/>
          <c:x val="0.16108721982359395"/>
          <c:y val="1.010227559723738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Mthly_PV!$B$3</c:f>
              <c:strCache>
                <c:ptCount val="1"/>
                <c:pt idx="0">
                  <c:v>Classic Bike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Mthly_PV!$A$4:$A$7</c:f>
              <c:strCache>
                <c:ptCount val="3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</c:strCache>
            </c:strRef>
          </c:cat>
          <c:val>
            <c:numRef>
              <c:f>Mthly_PV!$B$4:$B$7</c:f>
              <c:numCache>
                <c:formatCode>[&gt;=1000000]#,##0,,,"M";[&gt;=1000]#,##0,"K";0</c:formatCode>
                <c:ptCount val="3"/>
                <c:pt idx="0">
                  <c:v>214128</c:v>
                </c:pt>
                <c:pt idx="1">
                  <c:v>308330</c:v>
                </c:pt>
                <c:pt idx="2">
                  <c:v>433787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DF-4023-95B1-1913C111DA88}"/>
            </c:ext>
          </c:extLst>
        </c:ser>
        <c:ser>
          <c:idx val="1"/>
          <c:order val="1"/>
          <c:tx>
            <c:strRef>
              <c:f>Mthly_PV!$C$3</c:f>
              <c:strCache>
                <c:ptCount val="1"/>
                <c:pt idx="0">
                  <c:v>Docked Bike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Mthly_PV!$A$4:$A$7</c:f>
              <c:strCache>
                <c:ptCount val="3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</c:strCache>
            </c:strRef>
          </c:cat>
          <c:val>
            <c:numRef>
              <c:f>Mthly_PV!$C$4:$C$7</c:f>
              <c:numCache>
                <c:formatCode>[&gt;=1000000]#,##0,,,"M";[&gt;=1000]#,##0,"K";0</c:formatCode>
                <c:ptCount val="3"/>
                <c:pt idx="0">
                  <c:v>24714</c:v>
                </c:pt>
                <c:pt idx="1">
                  <c:v>43353</c:v>
                </c:pt>
                <c:pt idx="2">
                  <c:v>51716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DF-4023-95B1-1913C111DA88}"/>
            </c:ext>
          </c:extLst>
        </c:ser>
        <c:ser>
          <c:idx val="2"/>
          <c:order val="2"/>
          <c:tx>
            <c:strRef>
              <c:f>Mthly_PV!$D$3</c:f>
              <c:strCache>
                <c:ptCount val="1"/>
                <c:pt idx="0">
                  <c:v>Electric Bike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Mthly_PV!$A$4:$A$7</c:f>
              <c:strCache>
                <c:ptCount val="3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</c:strCache>
            </c:strRef>
          </c:cat>
          <c:val>
            <c:numRef>
              <c:f>Mthly_PV!$D$4:$D$7</c:f>
              <c:numCache>
                <c:formatCode>[&gt;=1000000]#,##0,,,"M";[&gt;=1000]#,##0,"K";0</c:formatCode>
                <c:ptCount val="3"/>
                <c:pt idx="0">
                  <c:v>59365</c:v>
                </c:pt>
                <c:pt idx="1">
                  <c:v>99311</c:v>
                </c:pt>
                <c:pt idx="2">
                  <c:v>123275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EDF-4023-95B1-1913C111DA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705550688"/>
        <c:axId val="705551648"/>
      </c:barChart>
      <c:catAx>
        <c:axId val="705550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5551648"/>
        <c:crosses val="autoZero"/>
        <c:auto val="1"/>
        <c:lblAlgn val="ctr"/>
        <c:lblOffset val="100"/>
        <c:noMultiLvlLbl val="0"/>
      </c:catAx>
      <c:valAx>
        <c:axId val="705551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,&quot;k&quot;\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5550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[DashBoard_Project_2.xlsx]Wkly_PV!PivotTable4</c:name>
    <c:fmtId val="2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Weekly</a:t>
            </a:r>
            <a:r>
              <a:rPr lang="en-US" baseline="0"/>
              <a:t> Ride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,&quot;k&quot;\ 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,&quot;k&quot;\ 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,&quot;k&quot;\ 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,&quot;k&quot;\ 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numFmt formatCode="#,##0,&quot;k&quot;\ 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Wkly_PV!$B$3:$B$4</c:f>
              <c:strCache>
                <c:ptCount val="1"/>
                <c:pt idx="0">
                  <c:v>Apr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,&quot;k&quot;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Wkly_PV!$A$5:$A$12</c:f>
              <c:strCache>
                <c:ptCount val="7"/>
                <c:pt idx="0">
                  <c:v>Thursday</c:v>
                </c:pt>
                <c:pt idx="1">
                  <c:v>Monday</c:v>
                </c:pt>
                <c:pt idx="2">
                  <c:v>Wednesday</c:v>
                </c:pt>
                <c:pt idx="3">
                  <c:v>Tuesday</c:v>
                </c:pt>
                <c:pt idx="4">
                  <c:v>Friday</c:v>
                </c:pt>
                <c:pt idx="5">
                  <c:v>Sunday</c:v>
                </c:pt>
                <c:pt idx="6">
                  <c:v>Saturday</c:v>
                </c:pt>
              </c:strCache>
            </c:strRef>
          </c:cat>
          <c:val>
            <c:numRef>
              <c:f>Wkly_PV!$B$5:$B$12</c:f>
              <c:numCache>
                <c:formatCode>[&gt;=1000000]#,##0,,,"M";[&gt;=1000]#,##0,"K";0</c:formatCode>
                <c:ptCount val="7"/>
                <c:pt idx="0">
                  <c:v>35005</c:v>
                </c:pt>
                <c:pt idx="1">
                  <c:v>38769</c:v>
                </c:pt>
                <c:pt idx="2">
                  <c:v>32882</c:v>
                </c:pt>
                <c:pt idx="3">
                  <c:v>46255</c:v>
                </c:pt>
                <c:pt idx="4">
                  <c:v>51382</c:v>
                </c:pt>
                <c:pt idx="5">
                  <c:v>45340</c:v>
                </c:pt>
                <c:pt idx="6">
                  <c:v>48574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F6-41F7-BA5C-34F353021F68}"/>
            </c:ext>
          </c:extLst>
        </c:ser>
        <c:ser>
          <c:idx val="1"/>
          <c:order val="1"/>
          <c:tx>
            <c:strRef>
              <c:f>Wkly_PV!$C$3:$C$4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Wkly_PV!$A$5:$A$12</c:f>
              <c:strCache>
                <c:ptCount val="7"/>
                <c:pt idx="0">
                  <c:v>Thursday</c:v>
                </c:pt>
                <c:pt idx="1">
                  <c:v>Monday</c:v>
                </c:pt>
                <c:pt idx="2">
                  <c:v>Wednesday</c:v>
                </c:pt>
                <c:pt idx="3">
                  <c:v>Tuesday</c:v>
                </c:pt>
                <c:pt idx="4">
                  <c:v>Friday</c:v>
                </c:pt>
                <c:pt idx="5">
                  <c:v>Sunday</c:v>
                </c:pt>
                <c:pt idx="6">
                  <c:v>Saturday</c:v>
                </c:pt>
              </c:strCache>
            </c:strRef>
          </c:cat>
          <c:val>
            <c:numRef>
              <c:f>Wkly_PV!$C$5:$C$12</c:f>
              <c:numCache>
                <c:formatCode>[&gt;=1000000]#,##0,,,"M";[&gt;=1000]#,##0,"K";0</c:formatCode>
                <c:ptCount val="7"/>
                <c:pt idx="0">
                  <c:v>49105</c:v>
                </c:pt>
                <c:pt idx="1">
                  <c:v>64567</c:v>
                </c:pt>
                <c:pt idx="2">
                  <c:v>52632</c:v>
                </c:pt>
                <c:pt idx="3">
                  <c:v>43659</c:v>
                </c:pt>
                <c:pt idx="4">
                  <c:v>55069</c:v>
                </c:pt>
                <c:pt idx="5">
                  <c:v>90079</c:v>
                </c:pt>
                <c:pt idx="6">
                  <c:v>95883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F6-41F7-BA5C-34F353021F68}"/>
            </c:ext>
          </c:extLst>
        </c:ser>
        <c:ser>
          <c:idx val="2"/>
          <c:order val="2"/>
          <c:tx>
            <c:strRef>
              <c:f>Wkly_PV!$D$3:$D$4</c:f>
              <c:strCache>
                <c:ptCount val="1"/>
                <c:pt idx="0">
                  <c:v>Jun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Wkly_PV!$A$5:$A$12</c:f>
              <c:strCache>
                <c:ptCount val="7"/>
                <c:pt idx="0">
                  <c:v>Thursday</c:v>
                </c:pt>
                <c:pt idx="1">
                  <c:v>Monday</c:v>
                </c:pt>
                <c:pt idx="2">
                  <c:v>Wednesday</c:v>
                </c:pt>
                <c:pt idx="3">
                  <c:v>Tuesday</c:v>
                </c:pt>
                <c:pt idx="4">
                  <c:v>Friday</c:v>
                </c:pt>
                <c:pt idx="5">
                  <c:v>Sunday</c:v>
                </c:pt>
                <c:pt idx="6">
                  <c:v>Saturday</c:v>
                </c:pt>
              </c:strCache>
            </c:strRef>
          </c:cat>
          <c:val>
            <c:numRef>
              <c:f>Wkly_PV!$D$5:$D$12</c:f>
              <c:numCache>
                <c:formatCode>[&gt;=1000000]#,##0,,,"M";[&gt;=1000]#,##0,"K";0</c:formatCode>
                <c:ptCount val="7"/>
                <c:pt idx="0">
                  <c:v>75056</c:v>
                </c:pt>
                <c:pt idx="1">
                  <c:v>65530</c:v>
                </c:pt>
                <c:pt idx="2">
                  <c:v>94675</c:v>
                </c:pt>
                <c:pt idx="3">
                  <c:v>91062</c:v>
                </c:pt>
                <c:pt idx="4">
                  <c:v>83347</c:v>
                </c:pt>
                <c:pt idx="5">
                  <c:v>96992</c:v>
                </c:pt>
                <c:pt idx="6">
                  <c:v>102116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8F6-41F7-BA5C-34F353021F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05563168"/>
        <c:axId val="705568448"/>
      </c:barChart>
      <c:catAx>
        <c:axId val="705563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5568448"/>
        <c:crosses val="autoZero"/>
        <c:auto val="1"/>
        <c:lblAlgn val="ctr"/>
        <c:lblOffset val="100"/>
        <c:noMultiLvlLbl val="0"/>
      </c:catAx>
      <c:valAx>
        <c:axId val="705568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,&quot;k&quot;\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5563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0C677-14FD-F949-58CF-815C5AA4E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77F50-6DE2-F804-CAD9-F0EEF90FE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520E1-1726-1F5D-E342-44DB306CA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C3175-F68F-B07D-D22F-AB127A6A3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FC596-7B1A-465B-1E47-260AFB465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59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C3970-F2D2-1187-1320-606571EA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03C9D-8BA0-3CB7-BE07-94C98D52C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14E1C-4B2E-DFA4-138B-DE0D09CF8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C8FD5-84D7-244C-D91A-65B11733D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B46C1-AD99-2417-9669-D42AC82D2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06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6B53E-087D-3DAD-09D6-41A386BF0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F6ED9-3FDF-53E3-9C03-471023978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77716-9275-3E0C-E5D5-DF4FC68EE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91888-3EF5-278E-4B83-EB5D00A10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B613F-3F96-04A3-7924-00AD76B20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47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B3AB1-9578-61B1-F543-DC291A366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15BEB-0F9A-EA12-77D7-8955A6A5EC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8B066-9BB4-52BB-3801-2B0513A91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0C743-216C-04AD-0C17-9525E786A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265D3-76D3-2551-DA6B-9E0573E3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4DF2A-2EDD-B799-8D35-081EA1FD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24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A0C25-92F7-C0AD-1506-553135DB3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D3811-D06C-58DC-69A2-4AE84208C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CB6AB-D84D-7E0D-7047-69D2DA075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267F57-3700-24AD-0E07-3FB84739E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80EE5C-EDCD-77B5-17B4-297A8C56F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E78193-D534-9266-20AF-FE896732E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D2129B-6245-D5B8-7811-71F3619F4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779718-8EAE-9D60-8431-86CCABF00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3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30C53-50C2-75C8-D46F-18398472A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220E4F-B896-5EC8-1642-F14FB0218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130B1C-FC86-9ECE-E34B-77DE95AF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9BAE4-DA18-2A64-C664-924F255D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34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E37D9E-BB6C-D6BF-27B9-13AE5A887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1715DF-5926-4AB2-28DA-9C9204673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2AF4F-4549-0CDA-A7FF-B86BE99A8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98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018C5-5C6D-527F-914C-3D749B489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C7FC7-5827-C35F-956F-65FACE62E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22B48-8061-BE18-69AB-7BF8B1A27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F2EE5E-99A1-5760-C070-53CC40A8A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BE21C-4CD0-ABBC-2D2F-3D2200997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A2C55-8D5C-6907-4427-11E71AE68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18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92381-D4B6-B12A-3BBF-AB7B0E2CB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EB4B38-11DB-EFD2-BB29-67AE1D9B54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DDDAD-3C0D-3638-F9AD-5366CCAE4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118D5-531A-FAA6-C057-CF7F737C4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8FFE7-624B-A384-D45E-DF14675FF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C2BB93-59FB-9270-CE09-C46C7B4E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26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908CC-22D8-CD38-0AF1-8D364521A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B03F63-E111-A90D-EC2E-29E8D6D44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F140C-F9E4-59FA-946E-AC11BE798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9DAA6-C0D6-8009-89EC-CB03946D1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8D8E3-EC74-0879-6E02-44F3C1A6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42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D2D83C-ED3E-FC3D-59DD-A76358FD3B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F87062-80E1-5F96-17FA-D456A0CFC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95E01-0653-F1A7-CA0D-F1695D7D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67077-F22C-AAA0-03B2-9EC9EB578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137BE-1FA1-8ED5-B44C-48DB42057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8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F6CB22-E2CE-2297-908E-24487BB3C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6C196-3D2C-6CB4-6E2C-BCA865B55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C2D5D-1D8C-1C99-2DB6-8FF26675DF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50814-1180-4F2E-929E-C59CB7BA5A3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5B4E1-6067-1B8B-D3FA-5F0BA316E3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CE57A-BC49-0C7C-3DFA-E939B6A79B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B4B9D-E1A8-44B9-BF51-3CE6FB0A1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16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16A8E-993E-60A0-C5C3-777EFE5E1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93763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Cyclistic  Bike Share Analysis 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77E63C-EB52-78FD-A8DD-96D1B69AD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4936" y="4470718"/>
            <a:ext cx="9144000" cy="1655762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https://www.kaggle.com/datasets/evangower/cyclistic-bike-share.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Period – April 2021 to June 2021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114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FC065-1A16-31AB-CB7E-2F00440C8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4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Ride and  Monthly 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627909-6BC5-0E2A-CAC3-2E24BE684298}"/>
              </a:ext>
            </a:extLst>
          </p:cNvPr>
          <p:cNvSpPr txBox="1"/>
          <p:nvPr/>
        </p:nvSpPr>
        <p:spPr>
          <a:xfrm>
            <a:off x="505206" y="2856573"/>
            <a:ext cx="60944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rides increased from April to June.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significant month-by-month peak.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Summary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member and casual rides are noticeably increasing.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Showing high engagement across all rider types.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DD66676-BF95-4EE7-A27A-3F911D3A86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4425335"/>
              </p:ext>
            </p:extLst>
          </p:nvPr>
        </p:nvGraphicFramePr>
        <p:xfrm>
          <a:off x="6599682" y="2309017"/>
          <a:ext cx="4514512" cy="285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45818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7B85F-3AAF-7DC1-40BC-0F350B568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6" y="429133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58364E-D8FE-93FC-CE83-86EF84A26571}"/>
              </a:ext>
            </a:extLst>
          </p:cNvPr>
          <p:cNvSpPr txBox="1"/>
          <p:nvPr/>
        </p:nvSpPr>
        <p:spPr>
          <a:xfrm>
            <a:off x="304038" y="2627668"/>
            <a:ext cx="55572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Casual rides are increasing daily and will be the major driver of the overall ride growth.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rides remain steady.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2A48303-8813-4AA1-9D46-89AC56E9A3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7638358"/>
              </p:ext>
            </p:extLst>
          </p:nvPr>
        </p:nvGraphicFramePr>
        <p:xfrm>
          <a:off x="6330698" y="2284711"/>
          <a:ext cx="5657086" cy="25142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5274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4A89C-BB8A-361B-AAC8-4373E1D63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44" y="447421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 of Rideable Types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A830F2-9DC7-55B5-3395-76BEFF705F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5864" y="3151021"/>
            <a:ext cx="490423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Classic bikes: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Main contributor to the overall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as it accounted for highest proportion compared to other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 bikes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 as a second contributor of growth.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Docked bikes: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percentage of growth. </a:t>
            </a:r>
          </a:p>
        </p:txBody>
      </p:sp>
      <p:graphicFrame>
        <p:nvGraphicFramePr>
          <p:cNvPr id="3" name="Content Placeholder 7">
            <a:extLst>
              <a:ext uri="{FF2B5EF4-FFF2-40B4-BE49-F238E27FC236}">
                <a16:creationId xmlns:a16="http://schemas.microsoft.com/office/drawing/2014/main" id="{33A0003D-0A75-C48B-97F5-13DC0C3186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5091559"/>
              </p:ext>
            </p:extLst>
          </p:nvPr>
        </p:nvGraphicFramePr>
        <p:xfrm>
          <a:off x="7122484" y="170330"/>
          <a:ext cx="468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DFEA249-00F4-4888-A01C-B3B8FA1D90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3370517"/>
              </p:ext>
            </p:extLst>
          </p:nvPr>
        </p:nvGraphicFramePr>
        <p:xfrm>
          <a:off x="7122484" y="3343918"/>
          <a:ext cx="468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11338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4C2AE-A92B-342E-21C6-2889C2A9C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0062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93987B-5769-AC3E-F28B-7590C6E8F7CA}"/>
              </a:ext>
            </a:extLst>
          </p:cNvPr>
          <p:cNvSpPr txBox="1"/>
          <p:nvPr/>
        </p:nvSpPr>
        <p:spPr>
          <a:xfrm>
            <a:off x="454152" y="3670083"/>
            <a:ext cx="53522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rides gradually increase from weekdays to weekends monthly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6C5605D-4FF0-43FA-99A6-9087644BCC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9522080"/>
              </p:ext>
            </p:extLst>
          </p:nvPr>
        </p:nvGraphicFramePr>
        <p:xfrm>
          <a:off x="6749925" y="980388"/>
          <a:ext cx="4845044" cy="47210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95515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E71FD-7A0B-B981-9594-D02336B87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EE577-FC85-2141-2A23-174BA5275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210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rides are increasing monthly and for a sustainable growth, we should more focus on casual rider engagement through targeted events and ensure adequate classic bike availability across all stations.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319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200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Wingdings</vt:lpstr>
      <vt:lpstr>Office Theme</vt:lpstr>
      <vt:lpstr>Cyclistic  Bike Share Analysis  Initial insights</vt:lpstr>
      <vt:lpstr>Total Ride and  Monthly Summary</vt:lpstr>
      <vt:lpstr>Daily Summary</vt:lpstr>
      <vt:lpstr>Percentage of Rideable Types</vt:lpstr>
      <vt:lpstr>Weekly Summary</vt:lpstr>
      <vt:lpstr>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myat myatnwe</dc:creator>
  <cp:lastModifiedBy>myat myatnwe</cp:lastModifiedBy>
  <cp:revision>6</cp:revision>
  <dcterms:created xsi:type="dcterms:W3CDTF">2025-10-11T16:02:48Z</dcterms:created>
  <dcterms:modified xsi:type="dcterms:W3CDTF">2025-10-12T06:42:17Z</dcterms:modified>
</cp:coreProperties>
</file>